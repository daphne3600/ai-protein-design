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vgr0iZsKzN/D0C1792SIv1NPB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C919B1-4A88-4397-AD87-FF5828520E51}">
  <a:tblStyle styleId="{BCC919B1-4A88-4397-AD87-FF5828520E5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2625669-2517-46FE-A213-0C2BC1C9919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3707a8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8c3707a8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c5421025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c5421025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&lt;cls&gt;: classification token indicating start of the sequence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&lt;eos&gt;: end of sequence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c542102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c542102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c5421025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c542102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c5421025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c5421025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c5421025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8c5421025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c5421025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c5421025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8c5421025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8c5421025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c5421025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c5421025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c5421025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c5421025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c5421025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c5421025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c5421025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c5421025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8c5421025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8c5421025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brianhie/efficient-evolution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Protein Language Models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c3707a815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Practical Applications of Protein Language Models</a:t>
            </a:r>
            <a:endParaRPr/>
          </a:p>
        </p:txBody>
      </p:sp>
      <p:sp>
        <p:nvSpPr>
          <p:cNvPr id="61" name="Google Shape;61;g38c3707a815_0_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Protein engineering</a:t>
            </a:r>
            <a:r>
              <a:rPr lang="en"/>
              <a:t>: </a:t>
            </a:r>
            <a:r>
              <a:rPr lang="en"/>
              <a:t>Predict mutation effects, design variants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Drug discovery</a:t>
            </a:r>
            <a:r>
              <a:rPr lang="en"/>
              <a:t>: </a:t>
            </a:r>
            <a:r>
              <a:rPr lang="en"/>
              <a:t>Target identification, binding site analysis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Evolutionary analysis</a:t>
            </a:r>
            <a:r>
              <a:rPr lang="en"/>
              <a:t>: </a:t>
            </a:r>
            <a:r>
              <a:rPr lang="en"/>
              <a:t>Phylogenetic relationships, selection pressure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Functional annotation: Predict function for novel sequences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Quality control: Assess synthetic sequence viability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What are Protein Language Models (pLMs)?</a:t>
            </a:r>
            <a:endParaRPr/>
          </a:p>
        </p:txBody>
      </p:sp>
      <p:sp>
        <p:nvSpPr>
          <p:cNvPr id="67" name="Google Shape;67;p2"/>
          <p:cNvSpPr txBox="1"/>
          <p:nvPr>
            <p:ph idx="1" type="body"/>
          </p:nvPr>
        </p:nvSpPr>
        <p:spPr>
          <a:xfrm>
            <a:off x="311700" y="1152475"/>
            <a:ext cx="4596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Large neural networks trained on millions of protein sequences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Uniprot, BFD, OAS, etc.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 statistical patterns in amino acid sequences without explicit structural or functional labels </a:t>
            </a:r>
            <a:r>
              <a:rPr i="1" lang="en"/>
              <a:t>(usually)</a:t>
            </a:r>
            <a:endParaRPr i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Capture evolutionary relationships, structural constraints, and functional dependencies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enable zero-shot predictions for unseen proteins</a:t>
            </a:r>
            <a:endParaRPr/>
          </a:p>
        </p:txBody>
      </p:sp>
      <p:pic>
        <p:nvPicPr>
          <p:cNvPr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1000" y="1170125"/>
            <a:ext cx="3930600" cy="34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 txBox="1"/>
          <p:nvPr/>
        </p:nvSpPr>
        <p:spPr>
          <a:xfrm>
            <a:off x="5357700" y="4506150"/>
            <a:ext cx="363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https://www.nature.com/articles/s41587-023-01763-2/figures/1</a:t>
            </a:r>
            <a:endParaRPr b="0" i="0" sz="9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Training - Masked Language Modeling</a:t>
            </a:r>
            <a:endParaRPr/>
          </a:p>
        </p:txBody>
      </p:sp>
      <p:sp>
        <p:nvSpPr>
          <p:cNvPr id="75" name="Google Shape;75;p3"/>
          <p:cNvSpPr txBox="1"/>
          <p:nvPr>
            <p:ph idx="1" type="body"/>
          </p:nvPr>
        </p:nvSpPr>
        <p:spPr>
          <a:xfrm>
            <a:off x="311700" y="1152475"/>
            <a:ext cx="5659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Hide/mask random amino acids in protein sequences (often 15-20%)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Train model to predict the masked residues from context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Self-supervised learning - no labels required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Model learns: local patterns, long-range dependencies, evolutionary constraints</a:t>
            </a:r>
            <a:endParaRPr/>
          </a:p>
        </p:txBody>
      </p:sp>
      <p:pic>
        <p:nvPicPr>
          <p:cNvPr id="76" name="Google Shape;76;p3"/>
          <p:cNvPicPr preferRelativeResize="0"/>
          <p:nvPr/>
        </p:nvPicPr>
        <p:blipFill rotWithShape="1">
          <a:blip r:embed="rId3">
            <a:alphaModFix/>
          </a:blip>
          <a:srcRect b="0" l="0" r="65233" t="0"/>
          <a:stretch/>
        </p:blipFill>
        <p:spPr>
          <a:xfrm>
            <a:off x="6145054" y="1302450"/>
            <a:ext cx="2268376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"/>
          <p:cNvSpPr txBox="1"/>
          <p:nvPr/>
        </p:nvSpPr>
        <p:spPr>
          <a:xfrm>
            <a:off x="5970950" y="4193050"/>
            <a:ext cx="261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https://www.nature.com/articles/s41467-022-34032-y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Common Protein Language Model Architectures</a:t>
            </a:r>
            <a:endParaRPr/>
          </a:p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ESM series: Transformer-based, bidirectional context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ProtBERT: BERT architecture adapted for proteins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Bidirectional Encoder Representations from Transformers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AlphaFold2 language model: Structure-aware components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Uses an Evoformer architecture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ProtGPT2: GPT2 transformer architecture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Trained to predict the next token using only context upstream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use attention mechanisms to capture sequence dependencies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Transformers Provide an Attention Mechanism</a:t>
            </a:r>
            <a:endParaRPr/>
          </a:p>
        </p:txBody>
      </p:sp>
      <p:sp>
        <p:nvSpPr>
          <p:cNvPr id="89" name="Google Shape;8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Self-attention enables global context: Each position attends to all other positions simultaneously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Attention weights reveal biological relationships: Strong weights often correspond to physical contacts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Multi-head attention: Different heads capture different types of interactions (local vs. long-range)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Layer-specific patterns: Early layers focus </a:t>
            </a:r>
            <a:br>
              <a:rPr lang="en"/>
            </a:br>
            <a:r>
              <a:rPr lang="en"/>
              <a:t>on sequence neighbors, later layers capture</a:t>
            </a:r>
            <a:br>
              <a:rPr lang="en"/>
            </a:br>
            <a:r>
              <a:rPr lang="en"/>
              <a:t>structural contacts</a:t>
            </a:r>
            <a:endParaRPr/>
          </a:p>
        </p:txBody>
      </p:sp>
      <p:pic>
        <p:nvPicPr>
          <p:cNvPr id="90" name="Google Shape;9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9500" y="2886900"/>
            <a:ext cx="3819200" cy="191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 txBox="1"/>
          <p:nvPr/>
        </p:nvSpPr>
        <p:spPr>
          <a:xfrm>
            <a:off x="5510050" y="4820400"/>
            <a:ext cx="3578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https://www.biorxiv.org/content/10.1101/2020.06.26.174417v1.full</a:t>
            </a:r>
            <a:endParaRPr b="0" i="0" sz="5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c54210250_0_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 of steps for pLM application</a:t>
            </a:r>
            <a:endParaRPr/>
          </a:p>
        </p:txBody>
      </p:sp>
      <p:sp>
        <p:nvSpPr>
          <p:cNvPr id="97" name="Google Shape;97;g38c54210250_0_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Preparation of input sequence using model-specific syntax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Tokenization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assessment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Output extraction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Customized to application goals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From sequence to tokens</a:t>
            </a:r>
            <a:endParaRPr/>
          </a:p>
        </p:txBody>
      </p:sp>
      <p:sp>
        <p:nvSpPr>
          <p:cNvPr id="103" name="Google Shape;10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Amino acid sequences → tokenized input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amino acid becomes a token (20 standard + special tokens)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Special tokens: [CLS], [SEP], [MASK], [PAD]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IgLOO tokens incorporate CDR structural information (arXiv: 2509.08707)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Position encodings added to preserve sequence order</a:t>
            </a:r>
            <a:endParaRPr/>
          </a:p>
        </p:txBody>
      </p:sp>
      <p:pic>
        <p:nvPicPr>
          <p:cNvPr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32442"/>
            <a:ext cx="9144000" cy="180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Example tokenization and masking</a:t>
            </a:r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Our peptide complex of interest: METHIONINE:CYSTEINE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We wish to mask the fourth letter of each peptide…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ESM-2: </a:t>
            </a:r>
            <a:r>
              <a:rPr b="1" lang="en"/>
              <a:t>&lt;cls&gt;</a:t>
            </a:r>
            <a:r>
              <a:rPr lang="en"/>
              <a:t>MET</a:t>
            </a:r>
            <a:r>
              <a:rPr b="1" lang="en"/>
              <a:t>&lt;mask&gt;</a:t>
            </a:r>
            <a:r>
              <a:rPr lang="en"/>
              <a:t>IONINE</a:t>
            </a:r>
            <a:r>
              <a:rPr b="1" lang="en"/>
              <a:t>&lt;pad&gt;</a:t>
            </a:r>
            <a:r>
              <a:rPr lang="en"/>
              <a:t>CYS</a:t>
            </a:r>
            <a:r>
              <a:rPr b="1" lang="en"/>
              <a:t>&lt;mask&gt;</a:t>
            </a:r>
            <a:r>
              <a:rPr lang="en"/>
              <a:t>EINE</a:t>
            </a:r>
            <a:r>
              <a:rPr b="1" lang="en"/>
              <a:t>&lt;eos&gt;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ProtBERT: </a:t>
            </a:r>
            <a:r>
              <a:rPr b="1" lang="en"/>
              <a:t>[CLS]</a:t>
            </a:r>
            <a:r>
              <a:rPr lang="en"/>
              <a:t> M E T </a:t>
            </a:r>
            <a:r>
              <a:rPr b="1" lang="en"/>
              <a:t>[MASK]</a:t>
            </a:r>
            <a:r>
              <a:rPr lang="en"/>
              <a:t> I O N I N E </a:t>
            </a:r>
            <a:r>
              <a:rPr b="1" lang="en"/>
              <a:t>[SEP]</a:t>
            </a:r>
            <a:r>
              <a:rPr lang="en"/>
              <a:t> C Y S </a:t>
            </a:r>
            <a:r>
              <a:rPr b="1" lang="en"/>
              <a:t>[MASK]</a:t>
            </a:r>
            <a:r>
              <a:rPr lang="en"/>
              <a:t> E I N E </a:t>
            </a:r>
            <a:r>
              <a:rPr b="1" lang="en"/>
              <a:t>[SEP]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Comparing Protein Language Models (pLMs)</a:t>
            </a:r>
            <a:endParaRPr/>
          </a:p>
        </p:txBody>
      </p:sp>
      <p:graphicFrame>
        <p:nvGraphicFramePr>
          <p:cNvPr id="116" name="Google Shape;116;p8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{BCC919B1-4A88-4397-AD87-FF5828520E51}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Model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Type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Mask Token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Spacing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Specialization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" sz="1400" u="none" cap="none" strike="noStrike"/>
                        <a:t>ESM-2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ESM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&lt;mask&gt;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General proteins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" sz="1400" u="none" cap="none" strike="noStrike"/>
                        <a:t>ProtBERT</a:t>
                      </a:r>
                      <a:endParaRPr i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BERT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[MASK]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General proteins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" sz="1400" u="none" cap="none" strike="noStrike"/>
                        <a:t>IgBERT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BERT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[MASK]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Yes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Antibodies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i="1" lang="en" sz="1400" u="none" cap="none" strike="noStrike"/>
                        <a:t>AMPLIFY</a:t>
                      </a:r>
                      <a:endParaRPr i="1"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ESM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&lt;mask&gt;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Optimized Training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From Tokens to Logits</a:t>
            </a:r>
            <a:endParaRPr/>
          </a:p>
        </p:txBody>
      </p:sp>
      <p:sp>
        <p:nvSpPr>
          <p:cNvPr id="122" name="Google Shape;122;p9"/>
          <p:cNvSpPr txBox="1"/>
          <p:nvPr>
            <p:ph idx="1" type="body"/>
          </p:nvPr>
        </p:nvSpPr>
        <p:spPr>
          <a:xfrm>
            <a:off x="311700" y="1152475"/>
            <a:ext cx="5088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/>
              <a:t>Input tokens → embedding layer → transformer blocks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Self-attention captures residue relationships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/>
              <a:t>Feed-forward networks process attended representations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/>
              <a:t>Output: logits for each position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Raw prediction of likelihood for each token at </a:t>
            </a:r>
            <a:r>
              <a:rPr lang="en"/>
              <a:t>each</a:t>
            </a:r>
            <a:r>
              <a:rPr lang="en"/>
              <a:t> site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-"/>
            </a:pPr>
            <a:r>
              <a:rPr lang="en"/>
              <a:t>Softmax function converts logits to probabilities</a:t>
            </a:r>
            <a:endParaRPr/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 b="0" l="24980" r="25689" t="0"/>
          <a:stretch/>
        </p:blipFill>
        <p:spPr>
          <a:xfrm>
            <a:off x="5550375" y="782725"/>
            <a:ext cx="3224648" cy="368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 txBox="1"/>
          <p:nvPr/>
        </p:nvSpPr>
        <p:spPr>
          <a:xfrm>
            <a:off x="5926225" y="4568875"/>
            <a:ext cx="261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chemeClr val="dk2"/>
                </a:solidFill>
              </a:rPr>
              <a:t>GitHub: </a:t>
            </a:r>
            <a:r>
              <a:rPr b="0" i="0" lang="en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GrayLab/DL4Proteins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Model Outputs of a Protein Language Model</a:t>
            </a:r>
            <a:endParaRPr/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Logits: Raw model outputs before normalization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Lower/negative: low likelihood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Higher/positive: high likelihood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Used to calculate Probabilities: Softmax-normalized logits (sum to 1.0)</a:t>
            </a:r>
            <a:endParaRPr/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/>
              <a:t>Higher probabilities indicate model confidence in amino acid choice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Loss, when labels are provided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cross-entropy loss across all positions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Hidden states (sometimes referred to as embeddings)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for each layer in the model plus the embeddings (Layer 0)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Useful for extracting what is learned in each layer of the model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Attention weights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each layer, the attention weights of the sequence (NxN)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Which other positions are important to this one?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Logits provide position-wise fitness prediction metrics</a:t>
            </a:r>
            <a:endParaRPr/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Probability: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Likelihood that amino acid exists at that position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Fitness score = log(P(mutant)) - log(P(wild-type))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Positive scores suggest beneficial mutations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Negative scores suggest deleterious mutations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Positional Entropy (Positional Perplexity):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Indication of model certainty - low: confident prediction with one clear answer. High: uncertain prediction with many possible options.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entropy regions may require greater effort in design, more variants validated in the lab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Caution: Different from information content used in sequence logos, where score is a measure of conservation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Scoring of the full protein </a:t>
            </a:r>
            <a:r>
              <a:rPr lang="en"/>
              <a:t>sequence using logits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Mean Entropy: measure of uncertainty in the model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Mean Perplexity: how “surprised” a LM is by the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Interpretation: lower - sequence is more natural; higher- unusual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Caution in proper interpretation for sequences with repeating motifs or amino acids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Protein Evolutionary Fitness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Marginal method: Sum position-wise scores across sequence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Masked marginal: Mask each position individually, sum log-likelihoods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Wild-type marginal: Single forward pass, extract all position probabilities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Trade-offs between accuracy (masked marginal) and computational cost (wild-type marginal)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Hidden States &amp; Embeddings</a:t>
            </a:r>
            <a:endParaRPr/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Hidden states are extracted from intermediate transformer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residue is represented as high-dimensional vector (64-5120 dimensions)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Capture semantic relationships between amino acids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Different layers capture different types of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extracted per-residue or averaged per-protein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c54210250_0_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lang="en"/>
              <a:t>Analyses using the </a:t>
            </a:r>
            <a:r>
              <a:rPr lang="en"/>
              <a:t>Hidden States &amp; Embeddings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8c54210250_0_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Position-wise Evolution of Prediction Confidence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Early layers are often high entropy, while learning local patterns. Confidence increases across middle layers, incorporating secondary structure, for example. Late layers have highest confidence once global context is integrated.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Correct prediction in middle layers, then wrong in late layers indicates model “overthinking”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Representation Similarity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Tracking change between layers aids identification of “important” layers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Feature recognition and specialization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Learning of general patterns, structure, etc.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Train simple classifiers on each layer to see what information is encoded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Attention pattern tracking across layers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Local -&gt; mid-range -&gt; global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c54210250_0_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What Each Layer Encodes</a:t>
            </a:r>
            <a:endParaRPr/>
          </a:p>
        </p:txBody>
      </p:sp>
      <p:graphicFrame>
        <p:nvGraphicFramePr>
          <p:cNvPr id="160" name="Google Shape;160;g38c54210250_0_13"/>
          <p:cNvGraphicFramePr/>
          <p:nvPr/>
        </p:nvGraphicFramePr>
        <p:xfrm>
          <a:off x="311700" y="119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{32625669-2517-46FE-A213-0C2BC1C9919B}</a:tableStyleId>
              </a:tblPr>
              <a:tblGrid>
                <a:gridCol w="2130150"/>
                <a:gridCol w="2130150"/>
                <a:gridCol w="2130150"/>
                <a:gridCol w="213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Layer Range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Information Encoded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Probing Task Performance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Attention Pattern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Early (1-5)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Amino acid chemistry</a:t>
                      </a:r>
                      <a:endParaRPr/>
                    </a:p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Local patterns</a:t>
                      </a:r>
                      <a:endParaRPr/>
                    </a:p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Hydrophobicity/charge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on AA properties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Local (±3 positions)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Middle (6-15)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Secondary structure</a:t>
                      </a:r>
                      <a:endParaRPr/>
                    </a:p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Shore-range contacts</a:t>
                      </a:r>
                      <a:endParaRPr/>
                    </a:p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Structural motifs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on 2° structure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Medium range (</a:t>
                      </a:r>
                      <a:r>
                        <a:rPr lang="en">
                          <a:solidFill>
                            <a:schemeClr val="dk1"/>
                          </a:solidFill>
                        </a:rPr>
                        <a:t>±</a:t>
                      </a:r>
                      <a:r>
                        <a:rPr lang="en"/>
                        <a:t>10 positions)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Late (16-30)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Tertiary structure</a:t>
                      </a:r>
                      <a:endParaRPr/>
                    </a:p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Long-range interactions</a:t>
                      </a:r>
                      <a:endParaRPr/>
                    </a:p>
                    <a:p>
                      <a:pPr indent="-203200" lvl="0" marL="1714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-"/>
                      </a:pPr>
                      <a:r>
                        <a:rPr lang="en"/>
                        <a:t>Function/domain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on function/fold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Global (full sequence)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c54210250_0_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applications arising from Hidden Layers</a:t>
            </a:r>
            <a:endParaRPr/>
          </a:p>
        </p:txBody>
      </p:sp>
      <p:sp>
        <p:nvSpPr>
          <p:cNvPr id="166" name="Google Shape;166;g38c54210250_0_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Feature extraction for ML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For example, regression analysis. Use middle layers for structure-related tasks, later layers for </a:t>
            </a:r>
            <a:r>
              <a:rPr lang="en"/>
              <a:t>function</a:t>
            </a:r>
            <a:r>
              <a:rPr lang="en"/>
              <a:t> prediction. In practice, regress against all layers to find best performing 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Layer selection depends on downstream task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AutoNum type="romanLcPeriod"/>
            </a:pPr>
            <a:r>
              <a:rPr lang="en"/>
              <a:t>Common choices: layer 6-12 for ESM-1b, layer 15-25 for ESM-2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Uncertainty Quantification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If early layers are confident but late layers uncertain - unusual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 Interpretability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Further Use of Hidden Layers &amp; Embeddings</a:t>
            </a:r>
            <a:endParaRPr/>
          </a:p>
        </p:txBody>
      </p:sp>
      <p:sp>
        <p:nvSpPr>
          <p:cNvPr id="172" name="Google Shape;17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Dimensionality reduction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</a:t>
            </a:r>
            <a:r>
              <a:rPr lang="en"/>
              <a:t>or visualization, use </a:t>
            </a:r>
            <a:r>
              <a:rPr lang="en"/>
              <a:t>PCA, t-SNE, UMAP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proteins by functional/structural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Regression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Predict experimental values (stability, activity)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Requires training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Classification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Protein families, localization,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Embeddings can capture features difficult to engineer manually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c54210250_0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Attention patterns inform position interdependence</a:t>
            </a:r>
            <a:endParaRPr/>
          </a:p>
        </p:txBody>
      </p:sp>
      <p:sp>
        <p:nvSpPr>
          <p:cNvPr id="178" name="Google Shape;178;g38c54210250_0_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Local vs Global Dependencies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"How much does the model need to look at position j to understand position i?"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Pairwise dependencies can be used in Contact Prediction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Functional Motif Detection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Design-critical position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Which positions might constrain amino acid identity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c54210250_0_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 of Attention to Protein Design</a:t>
            </a:r>
            <a:endParaRPr/>
          </a:p>
        </p:txBody>
      </p:sp>
      <p:sp>
        <p:nvSpPr>
          <p:cNvPr id="184" name="Google Shape;184;g38c54210250_0_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Rational Mutation Strategy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Independent sites have low epistasis and might be mutated one at a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Local interdependence - co-optimize with neighbors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Couple positions require combinatorial libraries or ML-guided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Identify Conserved Interaction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Protein cores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Domain interfaces (e.g. V</a:t>
            </a:r>
            <a:r>
              <a:rPr baseline="-25000" lang="en"/>
              <a:t>H</a:t>
            </a:r>
            <a:r>
              <a:rPr lang="en"/>
              <a:t>/V</a:t>
            </a:r>
            <a:r>
              <a:rPr baseline="-25000" lang="en"/>
              <a:t>L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Predict Mutation Impact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</a:t>
            </a:r>
            <a:r>
              <a:rPr lang="en"/>
              <a:t>ow many other positions might be affected by mutating this position?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Usually baked in to the application workflow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8c54210250_0_4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and Considerations for pLMs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c54210250_0_9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for Confidence</a:t>
            </a:r>
            <a:endParaRPr/>
          </a:p>
        </p:txBody>
      </p:sp>
      <p:sp>
        <p:nvSpPr>
          <p:cNvPr id="195" name="Google Shape;195;g38c54210250_0_9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Perplexity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Overall sequence naturalness (&lt; 20 = good, &gt; 40 = problematic)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Entropy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Position-specific uncertainty (&lt; 2 bits = confident)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Top-k Probability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How concentrated is the prediction?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Conserved antibody disulfide or CDR-H3 tip?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Ensemble Agreement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 different models agree?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Sources of Uncertainty</a:t>
            </a:r>
            <a:endParaRPr/>
          </a:p>
        </p:txBody>
      </p:sp>
      <p:sp>
        <p:nvSpPr>
          <p:cNvPr id="201" name="Google Shape;20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Epistemic (Model) Uncertainty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Training bias such as database composition, gaps in training data, novel chemistries (NCAAs)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Model or hardware </a:t>
            </a:r>
            <a:r>
              <a:rPr lang="en"/>
              <a:t>capacity</a:t>
            </a:r>
            <a:r>
              <a:rPr lang="en"/>
              <a:t> limitations requiring truncation of very long proteins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Aleatoric (Data) Uncertainty: true biological variability, flexibility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Out-of-Distribution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Novel sequences unlike anything in training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E.g., assessment of non-antibody sequences with antibody-fine-tuned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c54210250_0_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Failure Modes and Workarounds</a:t>
            </a:r>
            <a:endParaRPr/>
          </a:p>
        </p:txBody>
      </p:sp>
      <p:graphicFrame>
        <p:nvGraphicFramePr>
          <p:cNvPr id="207" name="Google Shape;207;g38c54210250_0_52"/>
          <p:cNvGraphicFramePr/>
          <p:nvPr/>
        </p:nvGraphicFramePr>
        <p:xfrm>
          <a:off x="311700" y="123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{32625669-2517-46FE-A213-0C2BC1C9919B}</a:tableStyleId>
              </a:tblPr>
              <a:tblGrid>
                <a:gridCol w="2130150"/>
                <a:gridCol w="2130150"/>
                <a:gridCol w="2130150"/>
                <a:gridCol w="2130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Failure Mode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Why pLMs Fail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Key Workaround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When to Trust pLM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Intrinsically Disordered Regions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No fixed structure; high sequence variability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Use IUPred, focus on properties (FCR, NCPR)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OK for detecting IDRs; </a:t>
                      </a:r>
                      <a:r>
                        <a:rPr lang="en" sz="1100"/>
                        <a:t>specialized methods</a:t>
                      </a:r>
                      <a:r>
                        <a:rPr lang="en" sz="1100"/>
                        <a:t> for sequence design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Membrane proteins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Training bias toward soluble proteins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TMHMM, DeepTMHMM, membrane-specific pLMs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Caution in TM regions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Signal peptides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Cleaved, not in mature protein database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SignalP, analyze mature protein separately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After removing signal peptide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Low complexity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Paradoxically low perplexity despite being unusual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SEG filtering, composition analysis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Use composition metrics instead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Rare families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Insufficient training examples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MSA-based methods, AlphaFold validation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When combined with homolog consensus (e.g., MSA)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PTMs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pLMs only see 20 standard amino acids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PTM-specific predictors (NetPhos, NetNGlyc)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For unmodified sequence context only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c54210250_0_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Guidelines for Biologics</a:t>
            </a:r>
            <a:endParaRPr/>
          </a:p>
        </p:txBody>
      </p:sp>
      <p:sp>
        <p:nvSpPr>
          <p:cNvPr id="213" name="Google Shape;213;g38c54210250_0_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pLMs for well-characterized frameworks (antibodies, common scaffolds)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Calculate confidence metrics for all predictions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Combine with structure prediction (e.g., </a:t>
            </a:r>
            <a:r>
              <a:rPr lang="en"/>
              <a:t>AlphaFold </a:t>
            </a:r>
            <a:r>
              <a:rPr lang="en"/>
              <a:t>pLDDT)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ensemble approaches when critical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Validate high-uncertainty predictions experimentally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DON'T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Trust predictions on highly unusual sequences without taking proper precautions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Ignore perplexity warnings or other out-of-distribution signals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pLMs alone for disordered regions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Assume all positions are equally reliable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Skip experimental validation for lead candidates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c54210250_0_8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 with Experimental Work</a:t>
            </a:r>
            <a:endParaRPr/>
          </a:p>
        </p:txBody>
      </p:sp>
      <p:sp>
        <p:nvSpPr>
          <p:cNvPr id="219" name="Google Shape;219;g38c54210250_0_8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Computational Screening: Use pLMs to filter large libraries (trust high-confidence predictions)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Focused Libraries: Generate 10-50 variants around high-confidence predictions with more variation at high-entropy positions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Iteration: Use experimental data to refine computational predictions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Refine interpretation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Fine-tune the model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Lab-in-the-loop methods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Choosing the Right Model</a:t>
            </a: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Task requirements: Speed vs. accuracy trade-offs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Sequence length: Model-specific limitations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Computational resources: Model size considerations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ESM-3: Excellent performance, largest resource requirements, custom license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ESM-1b: Good balance of performance and efficiency, permissive license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Consider fine-tuning for specific tasks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Fine-tuning vs. Zero-shot Prediction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Zero-shot: Use pre-trained model directly without additional training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Best for: General fitness prediction, contact prediction, basic functional analysis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Advantages: No data required, immediate use, generalizes well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Fine-tuning: Additional training on task-specific data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Best for: Specific protein families, particular experimental conditions, specialized tasks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Requirements: Labeled dataset (100s-1000s examples), computational resources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Real-world Example: Enzyme Thermostability Prediction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Zero-shot approach: Use ESM-2 to predict mutation effects based on sequence likelihood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Works well to cull obvious deleterious mutations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May miss subtle thermostability-specific effects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Fine-tuning approach: Train on thermostability experimental data (e.g., melting temperatures)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Collect 500+ enzyme variants with measured Tm values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Fine-tune ESM-2 embeddings → regression model for Tm prediction</a:t>
            </a:r>
            <a:endParaRPr/>
          </a:p>
          <a:p>
            <a:pPr indent="-310832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Result: Better accuracy for thermostability specifically, but may lose generalizability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Discussion on how efficient evolution works</a:t>
            </a:r>
            <a:endParaRPr/>
          </a:p>
        </p:txBody>
      </p:sp>
      <p:pic>
        <p:nvPicPr>
          <p:cNvPr id="237" name="Google Shape;23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170125"/>
            <a:ext cx="8839204" cy="2662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Activities</a:t>
            </a:r>
            <a:endParaRPr/>
          </a:p>
        </p:txBody>
      </p:sp>
      <p:sp>
        <p:nvSpPr>
          <p:cNvPr id="243" name="Google Shape;24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pLM Basics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Tokenization, Scoring, Embeddings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Uncertainty Quantification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Perplexity, Entropy, and Performance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Efficient Evolution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Run the example c</a:t>
            </a:r>
            <a:r>
              <a:rPr lang="en"/>
              <a:t>ommand-line implementation via Google Colab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Explore the code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https://github.com/brianhie/efficient-evolution</a:t>
            </a:r>
            <a:endParaRPr/>
          </a:p>
          <a:p>
            <a:pPr indent="-297497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Follow the functions back from bin/recommend.py to understand the use of logits and embeddings in the decode or soft_reconstruct functions of bin/amis.py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Mutation Landscape Regressions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Performing </a:t>
            </a:r>
            <a:r>
              <a:rPr lang="en"/>
              <a:t>regressions from pLM embeddings using labeled data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Antibody Triaging using Embeddings (Optional)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An implementation of Sweet-Jones &amp; Martin’s “An antibody developability triaging pipeline exploiting protein language models”, mAbs, 2025. DOI: 10.1080/19420862.2025.2472009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Choosing a pLM (Optional)</a:t>
            </a:r>
            <a:endParaRPr/>
          </a:p>
          <a:p>
            <a:pPr indent="-297497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As understood in the Uncertainty Quantification notebook, pLM performance can </a:t>
            </a:r>
            <a:r>
              <a:rPr lang="en"/>
              <a:t>vary</a:t>
            </a:r>
            <a:r>
              <a:rPr lang="en"/>
              <a:t> greatly. A </a:t>
            </a:r>
            <a:r>
              <a:rPr lang="en"/>
              <a:t>comparative</a:t>
            </a:r>
            <a:r>
              <a:rPr lang="en"/>
              <a:t> benchmark of pLMs should be performed at the beginning of any study. This notebook illustrates one framework for that preliminary experiment.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8c54210250_0_10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for thought</a:t>
            </a:r>
            <a:endParaRPr/>
          </a:p>
        </p:txBody>
      </p:sp>
      <p:sp>
        <p:nvSpPr>
          <p:cNvPr id="249" name="Google Shape;249;g38c54210250_0_10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Question 1:</a:t>
            </a:r>
            <a:r>
              <a:rPr lang="en"/>
              <a:t> You're designing a therapeutic antibody CDR-H3 loop (15 residues, disordered in absence of antigen). The pLM gives a perplexity of 35 and high entropy (&gt; 3 bits) for most positions. How would you proceed?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Question 2:</a:t>
            </a:r>
            <a:r>
              <a:rPr lang="en"/>
              <a:t> A colleague proposes using pLM predictions alone to humanize 50 positions in a murine antibody. The overall perplexity is 18. What additional analyses would you request before proceeding?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Question 3:</a:t>
            </a:r>
            <a:r>
              <a:rPr lang="en"/>
              <a:t> You need to optimize stability of a novel protein scaffold with no close homologs in UniProt. What are the limitations of using pLMs here? What complementary approaches would you use?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en"/>
              <a:t>Question 4:</a:t>
            </a:r>
            <a:r>
              <a:rPr lang="en"/>
              <a:t> Design an experimental validation strategy for a library of 100 pLM-designed variants with perplexities ranging from 12 to 45. How would you prioritize testing?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